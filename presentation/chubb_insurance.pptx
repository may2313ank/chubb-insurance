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0" name="Body Content"/>
          <p:cNvSpPr txBox="1"/>
          <p:nvPr/>
        </p:nvSpPr>
        <p:spPr>
          <a:xfrm>
            <a:off x="731520" y="1188720"/>
            <a:ext cx="10728960" cy="4937760"/>
          </a:xfrm>
          <a:prstGeom prst="rect">
            <a:avLst/>
          </a:prstGeom>
        </p:spPr>
        <p:txBody>
          <a:bodyPr wrap="square" anchor="ctr" rtlCol="0">
            <a:normAutofit/>
          </a:bodyPr>
          <a:lstStyle/>
          <a:p>
            <a:pPr marL="285750" indent="-285750">
              <a:lnSpc>
                <a:spcPct val="108000"/>
              </a:lnSpc>
              <a:spcBef>
                <a:spcPts val="1200"/>
              </a:spcBef>
              <a:buClr>
                <a:srgbClr val="5B2D90"/>
              </a:buClr>
              <a:buFont typeface="Arial"/>
              <a:buChar char="•"/>
            </a:pPr>
            <a:r>
              <a:rPr lang="en-US" sz="1800" b="1" dirty="0">
                <a:solidFill>
                  <a:srgbClr val="5B2D90"/>
                </a:solidFill>
              </a:rPr>
              <a:t>Layered architecture with a domain core - dependencies point inward</a:t>
            </a:r>
          </a:p>
          <a:p>
            <a:pPr marL="742950" lvl="1" indent="-285750">
              <a:lnSpc>
                <a:spcPct val="108000"/>
              </a:lnSpc>
              <a:spcBef>
                <a:spcPts val="300"/>
              </a:spcBef>
              <a:buClr>
                <a:srgbClr val="7A7A7A"/>
              </a:buClr>
              <a:buFont typeface="Arial"/>
              <a:buChar char="–"/>
            </a:pPr>
            <a:r>
              <a:rPr lang="en-US" sz="1450" dirty="0">
                <a:solidFill>
                  <a:srgbClr val="404040"/>
                </a:solidFill>
              </a:rPr>
              <a:t>api -&gt; service -&gt; domain;  infrastructure -&gt; domain</a:t>
            </a:r>
          </a:p>
          <a:p>
            <a:pPr marL="742950" lvl="1" indent="-285750">
              <a:lnSpc>
                <a:spcPct val="108000"/>
              </a:lnSpc>
              <a:spcBef>
                <a:spcPts val="300"/>
              </a:spcBef>
              <a:buClr>
                <a:srgbClr val="7A7A7A"/>
              </a:buClr>
              <a:buFont typeface="Arial"/>
              <a:buChar char="–"/>
            </a:pPr>
            <a:r>
              <a:rPr lang="en-US" sz="1450" dirty="0">
                <a:solidFill>
                  <a:srgbClr val="404040"/>
                </a:solidFill>
              </a:rPr>
              <a:t>domain is framework/persistence-free - pure business models</a:t>
            </a:r>
          </a:p>
          <a:p>
            <a:pPr marL="742950" lvl="1" indent="-285750">
              <a:lnSpc>
                <a:spcPct val="108000"/>
              </a:lnSpc>
              <a:spcBef>
                <a:spcPts val="300"/>
              </a:spcBef>
              <a:buClr>
                <a:srgbClr val="7A7A7A"/>
              </a:buClr>
              <a:buFont typeface="Arial"/>
              <a:buChar char="–"/>
            </a:pPr>
            <a:r>
              <a:rPr lang="en-US" sz="1450" dirty="0">
                <a:solidFill>
                  <a:srgbClr val="404040"/>
                </a:solidFill>
              </a:rPr>
              <a:t>api never touches infrastructure directly - always via service</a:t>
            </a:r>
          </a:p>
          <a:p>
            <a:pPr marL="742950" lvl="1" indent="-285750">
              <a:lnSpc>
                <a:spcPct val="108000"/>
              </a:lnSpc>
              <a:spcBef>
                <a:spcPts val="300"/>
              </a:spcBef>
              <a:buClr>
                <a:srgbClr val="7A7A7A"/>
              </a:buClr>
              <a:buFont typeface="Arial"/>
              <a:buChar char="–"/>
            </a:pPr>
            <a:r>
              <a:rPr lang="en-US" sz="1450" dirty="0">
                <a:solidFill>
                  <a:srgbClr val="404040"/>
                </a:solidFill>
              </a:rPr>
              <a:t>DTOs stay in api; JPA entities stay in infrastructure; only domain models cross</a:t>
            </a:r>
          </a:p>
          <a:p>
            <a:pPr marL="285750" indent="-285750">
              <a:lnSpc>
                <a:spcPct val="108000"/>
              </a:lnSpc>
              <a:spcBef>
                <a:spcPts val="1200"/>
              </a:spcBef>
              <a:buClr>
                <a:srgbClr val="5B2D90"/>
              </a:buClr>
              <a:buFont typeface="Arial"/>
              <a:buChar char="•"/>
            </a:pPr>
            <a:r>
              <a:rPr lang="en-US" sz="1800" b="1" dirty="0">
                <a:solidFill>
                  <a:srgbClr val="5B2D90"/>
                </a:solidFill>
              </a:rPr>
              <a:t>Explicit mapper at every boundary</a:t>
            </a:r>
          </a:p>
          <a:p>
            <a:pPr marL="742950" lvl="1" indent="-285750">
              <a:lnSpc>
                <a:spcPct val="108000"/>
              </a:lnSpc>
              <a:spcBef>
                <a:spcPts val="300"/>
              </a:spcBef>
              <a:buClr>
                <a:srgbClr val="7A7A7A"/>
              </a:buClr>
              <a:buFont typeface="Arial"/>
              <a:buChar char="–"/>
            </a:pPr>
            <a:r>
              <a:rPr lang="en-US" sz="1450" dirty="0">
                <a:solidFill>
                  <a:srgbClr val="404040"/>
                </a:solidFill>
              </a:rPr>
              <a:t>RequestDtoToDomain, DomainToResponseDto, PolicyMapper</a:t>
            </a:r>
          </a:p>
          <a:p>
            <a:pPr marL="285750" indent="-285750">
              <a:lnSpc>
                <a:spcPct val="108000"/>
              </a:lnSpc>
              <a:spcBef>
                <a:spcPts val="1200"/>
              </a:spcBef>
              <a:buClr>
                <a:srgbClr val="5B2D90"/>
              </a:buClr>
              <a:buFont typeface="Arial"/>
              <a:buChar char="•"/>
            </a:pPr>
            <a:r>
              <a:rPr lang="en-US" sz="1800" b="1" dirty="0">
                <a:solidFill>
                  <a:srgbClr val="5B2D90"/>
                </a:solidFill>
              </a:rPr>
              <a:t>Key decisions</a:t>
            </a:r>
          </a:p>
          <a:p>
            <a:pPr marL="742950" lvl="1" indent="-285750">
              <a:lnSpc>
                <a:spcPct val="108000"/>
              </a:lnSpc>
              <a:spcBef>
                <a:spcPts val="300"/>
              </a:spcBef>
              <a:buClr>
                <a:srgbClr val="7A7A7A"/>
              </a:buClr>
              <a:buFont typeface="Arial"/>
              <a:buChar char="–"/>
            </a:pPr>
            <a:r>
              <a:rPr lang="en-US" sz="1450" dirty="0">
                <a:solidFill>
                  <a:srgbClr val="404040"/>
                </a:solidFill>
              </a:rPr>
              <a:t>Contract-first OpenAPI is the source of truth</a:t>
            </a:r>
          </a:p>
          <a:p>
            <a:pPr marL="742950" lvl="1" indent="-285750">
              <a:lnSpc>
                <a:spcPct val="108000"/>
              </a:lnSpc>
              <a:spcBef>
                <a:spcPts val="300"/>
              </a:spcBef>
              <a:buClr>
                <a:srgbClr val="7A7A7A"/>
              </a:buClr>
              <a:buFont typeface="Arial"/>
              <a:buChar char="–"/>
            </a:pPr>
            <a:r>
              <a:rPr lang="en-US" sz="1450" dirty="0">
                <a:solidFill>
                  <a:srgbClr val="404040"/>
                </a:solidFill>
              </a:rPr>
              <a:t>Specification pattern for composable, injection-safe filtering</a:t>
            </a:r>
          </a:p>
          <a:p>
            <a:pPr marL="742950" lvl="1" indent="-285750">
              <a:lnSpc>
                <a:spcPct val="108000"/>
              </a:lnSpc>
              <a:spcBef>
                <a:spcPts val="300"/>
              </a:spcBef>
              <a:buClr>
                <a:srgbClr val="7A7A7A"/>
              </a:buClr>
              <a:buFont typeface="Arial"/>
              <a:buChar char="–"/>
            </a:pPr>
            <a:r>
              <a:rPr lang="en-US" sz="1450" dirty="0">
                <a:solidFill>
                  <a:srgbClr val="404040"/>
                </a:solidFill>
              </a:rPr>
              <a:t>PolicyExpiry centralizes the 30-day expiring-soon rule</a:t>
            </a:r>
          </a:p>
          <a:p>
            <a:pPr marL="742950" lvl="1" indent="-285750">
              <a:lnSpc>
                <a:spcPct val="108000"/>
              </a:lnSpc>
              <a:spcBef>
                <a:spcPts val="300"/>
              </a:spcBef>
              <a:buClr>
                <a:srgbClr val="7A7A7A"/>
              </a:buClr>
              <a:buFont typeface="Arial"/>
              <a:buChar char="–"/>
            </a:pPr>
            <a:r>
              <a:rPr lang="en-US" sz="1450" dirty="0">
                <a:solidFill>
                  <a:srgbClr val="404040"/>
                </a:solidFill>
              </a:rPr>
              <a:t>@RestControllerAdvice for safe errors - no stack traces</a:t>
            </a:r>
          </a:p>
          <a:p>
            <a:pPr marL="742950" lvl="1" indent="-285750">
              <a:lnSpc>
                <a:spcPct val="108000"/>
              </a:lnSpc>
              <a:spcBef>
                <a:spcPts val="300"/>
              </a:spcBef>
              <a:buClr>
                <a:srgbClr val="7A7A7A"/>
              </a:buClr>
              <a:buFont typeface="Arial"/>
              <a:buChar char="–"/>
            </a:pPr>
            <a:r>
              <a:rPr lang="en-US" sz="1450" dirty="0">
                <a:solidFill>
                  <a:srgbClr val="404040"/>
                </a:solidFill>
              </a:rPr>
              <a:t>CorrelationIdFilter + SLF4J MDC for request tracing</a:t>
            </a:r>
          </a:p>
          <a:p>
            <a:pPr marL="742950" lvl="1" indent="-285750">
              <a:lnSpc>
                <a:spcPct val="108000"/>
              </a:lnSpc>
              <a:spcBef>
                <a:spcPts val="300"/>
              </a:spcBef>
              <a:buClr>
                <a:srgbClr val="7A7A7A"/>
              </a:buClr>
              <a:buFont typeface="Arial"/>
              <a:buChar char="–"/>
            </a:pPr>
            <a:r>
              <a:rPr lang="en-US" sz="1450" dirty="0">
                <a:solidFill>
                  <a:srgbClr val="404040"/>
                </a:solidFill>
              </a:rPr>
              <a:t>Enforced rules: &lt;=200-line files, &lt;=50-line methods, complexity &lt;4, Optional over null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0" name="Body Content"/>
          <p:cNvSpPr txBox="1"/>
          <p:nvPr/>
        </p:nvSpPr>
        <p:spPr>
          <a:xfrm>
            <a:off x="731520" y="1188720"/>
            <a:ext cx="10728960" cy="4937760"/>
          </a:xfrm>
          <a:prstGeom prst="rect">
            <a:avLst/>
          </a:prstGeom>
        </p:spPr>
        <p:txBody>
          <a:bodyPr wrap="square" anchor="ctr" rtlCol="0">
            <a:normAutofit/>
          </a:bodyPr>
          <a:lstStyle/>
          <a:p>
            <a:pPr marL="285750" indent="-285750">
              <a:lnSpc>
                <a:spcPct val="108000"/>
              </a:lnSpc>
              <a:spcBef>
                <a:spcPts val="1200"/>
              </a:spcBef>
              <a:buClr>
                <a:srgbClr val="5B2D90"/>
              </a:buClr>
              <a:buFont typeface="Arial"/>
              <a:buChar char="•"/>
            </a:pPr>
            <a:r>
              <a:rPr lang="en-US" sz="1800" b="1" dirty="0">
                <a:solidFill>
                  <a:srgbClr val="5B2D90"/>
                </a:solidFill>
              </a:rPr>
              <a:t>Repository</a:t>
            </a:r>
          </a:p>
          <a:p>
            <a:pPr marL="742950" lvl="1" indent="-285750">
              <a:lnSpc>
                <a:spcPct val="108000"/>
              </a:lnSpc>
              <a:spcBef>
                <a:spcPts val="300"/>
              </a:spcBef>
              <a:buClr>
                <a:srgbClr val="7A7A7A"/>
              </a:buClr>
              <a:buFont typeface="Arial"/>
              <a:buChar char="–"/>
            </a:pPr>
            <a:r>
              <a:rPr lang="en-US" sz="1450" dirty="0">
                <a:solidFill>
                  <a:srgbClr val="404040"/>
                </a:solidFill>
              </a:rPr>
              <a:t>Remote: github.com/may2313ank/chubb-insurance.git</a:t>
            </a:r>
          </a:p>
          <a:p>
            <a:pPr marL="742950" lvl="1" indent="-285750">
              <a:lnSpc>
                <a:spcPct val="108000"/>
              </a:lnSpc>
              <a:spcBef>
                <a:spcPts val="300"/>
              </a:spcBef>
              <a:buClr>
                <a:srgbClr val="7A7A7A"/>
              </a:buClr>
              <a:buFont typeface="Arial"/>
              <a:buChar char="–"/>
            </a:pPr>
            <a:r>
              <a:rPr lang="en-US" sz="1450" dirty="0">
                <a:solidFill>
                  <a:srgbClr val="404040"/>
                </a:solidFill>
              </a:rPr>
              <a:t>Default branch: main</a:t>
            </a:r>
          </a:p>
          <a:p>
            <a:pPr marL="742950" lvl="1" indent="-285750">
              <a:lnSpc>
                <a:spcPct val="108000"/>
              </a:lnSpc>
              <a:spcBef>
                <a:spcPts val="300"/>
              </a:spcBef>
              <a:buClr>
                <a:srgbClr val="7A7A7A"/>
              </a:buClr>
              <a:buFont typeface="Arial"/>
              <a:buChar char="–"/>
            </a:pPr>
            <a:r>
              <a:rPr lang="en-US" sz="1450" dirty="0">
                <a:solidFill>
                  <a:srgbClr val="404040"/>
                </a:solidFill>
              </a:rPr>
              <a:t>target/ and Maven wrapper internals are git-ignored</a:t>
            </a:r>
          </a:p>
          <a:p>
            <a:pPr marL="285750" indent="-285750">
              <a:lnSpc>
                <a:spcPct val="108000"/>
              </a:lnSpc>
              <a:spcBef>
                <a:spcPts val="1200"/>
              </a:spcBef>
              <a:buClr>
                <a:srgbClr val="5B2D90"/>
              </a:buClr>
              <a:buFont typeface="Arial"/>
              <a:buChar char="•"/>
            </a:pPr>
            <a:r>
              <a:rPr lang="en-US" sz="1800" b="1" dirty="0">
                <a:solidFill>
                  <a:srgbClr val="5B2D90"/>
                </a:solidFill>
              </a:rPr>
              <a:t>Working platform</a:t>
            </a:r>
          </a:p>
          <a:p>
            <a:pPr marL="742950" lvl="1" indent="-285750">
              <a:lnSpc>
                <a:spcPct val="108000"/>
              </a:lnSpc>
              <a:spcBef>
                <a:spcPts val="300"/>
              </a:spcBef>
              <a:buClr>
                <a:srgbClr val="7A7A7A"/>
              </a:buClr>
              <a:buFont typeface="Arial"/>
              <a:buChar char="–"/>
            </a:pPr>
            <a:r>
              <a:rPr lang="en-US" sz="1450" dirty="0">
                <a:solidFill>
                  <a:srgbClr val="404040"/>
                </a:solidFill>
              </a:rPr>
              <a:t>OS: Windows 11</a:t>
            </a:r>
          </a:p>
          <a:p>
            <a:pPr marL="742950" lvl="1" indent="-285750">
              <a:lnSpc>
                <a:spcPct val="108000"/>
              </a:lnSpc>
              <a:spcBef>
                <a:spcPts val="300"/>
              </a:spcBef>
              <a:buClr>
                <a:srgbClr val="7A7A7A"/>
              </a:buClr>
              <a:buFont typeface="Arial"/>
              <a:buChar char="–"/>
            </a:pPr>
            <a:r>
              <a:rPr lang="en-US" sz="1450" dirty="0">
                <a:solidFill>
                  <a:srgbClr val="404040"/>
                </a:solidFill>
              </a:rPr>
              <a:t>Java 21 (LTS); build via Maven 3.9 wrapper (./mvnw)</a:t>
            </a:r>
          </a:p>
          <a:p>
            <a:pPr marL="742950" lvl="1" indent="-285750">
              <a:lnSpc>
                <a:spcPct val="108000"/>
              </a:lnSpc>
              <a:spcBef>
                <a:spcPts val="300"/>
              </a:spcBef>
              <a:buClr>
                <a:srgbClr val="7A7A7A"/>
              </a:buClr>
              <a:buFont typeface="Arial"/>
              <a:buChar char="–"/>
            </a:pPr>
            <a:r>
              <a:rPr lang="en-US" sz="1450" dirty="0">
                <a:solidFill>
                  <a:srgbClr val="404040"/>
                </a:solidFill>
              </a:rPr>
              <a:t>IDE: IntelliJ IDEA; AI assistant: Claude Code</a:t>
            </a:r>
          </a:p>
          <a:p>
            <a:pPr marL="742950" lvl="1" indent="-285750">
              <a:lnSpc>
                <a:spcPct val="108000"/>
              </a:lnSpc>
              <a:spcBef>
                <a:spcPts val="300"/>
              </a:spcBef>
              <a:buClr>
                <a:srgbClr val="7A7A7A"/>
              </a:buClr>
              <a:buFont typeface="Arial"/>
              <a:buChar char="–"/>
            </a:pPr>
            <a:r>
              <a:rPr lang="en-US" sz="1450" dirty="0">
                <a:solidFill>
                  <a:srgbClr val="404040"/>
                </a:solidFill>
              </a:rPr>
              <a:t>DB: H2 in-memory (dev/test); PostgreSQL 16 target</a:t>
            </a:r>
          </a:p>
          <a:p>
            <a:pPr marL="285750" indent="-285750">
              <a:lnSpc>
                <a:spcPct val="108000"/>
              </a:lnSpc>
              <a:spcBef>
                <a:spcPts val="1200"/>
              </a:spcBef>
              <a:buClr>
                <a:srgbClr val="5B2D90"/>
              </a:buClr>
              <a:buFont typeface="Arial"/>
              <a:buChar char="•"/>
            </a:pPr>
            <a:r>
              <a:rPr lang="en-US" sz="1800" b="1" dirty="0">
                <a:solidFill>
                  <a:srgbClr val="5B2D90"/>
                </a:solidFill>
              </a:rPr>
              <a:t>Tech stack (pinned)</a:t>
            </a:r>
          </a:p>
          <a:p>
            <a:pPr marL="742950" lvl="1" indent="-285750">
              <a:lnSpc>
                <a:spcPct val="108000"/>
              </a:lnSpc>
              <a:spcBef>
                <a:spcPts val="300"/>
              </a:spcBef>
              <a:buClr>
                <a:srgbClr val="7A7A7A"/>
              </a:buClr>
              <a:buFont typeface="Arial"/>
              <a:buChar char="–"/>
            </a:pPr>
            <a:r>
              <a:rPr lang="en-US" sz="1450" dirty="0">
                <a:solidFill>
                  <a:srgbClr val="404040"/>
                </a:solidFill>
              </a:rPr>
              <a:t>Spring Boot 3.4.1 (latest - 1, for stability)</a:t>
            </a:r>
          </a:p>
          <a:p>
            <a:pPr marL="742950" lvl="1" indent="-285750">
              <a:lnSpc>
                <a:spcPct val="108000"/>
              </a:lnSpc>
              <a:spcBef>
                <a:spcPts val="300"/>
              </a:spcBef>
              <a:buClr>
                <a:srgbClr val="7A7A7A"/>
              </a:buClr>
              <a:buFont typeface="Arial"/>
              <a:buChar char="–"/>
            </a:pPr>
            <a:r>
              <a:rPr lang="en-US" sz="1450" dirty="0">
                <a:solidFill>
                  <a:srgbClr val="404040"/>
                </a:solidFill>
              </a:rPr>
              <a:t>springdoc-openapi (Swagger UI) 2.7.0</a:t>
            </a:r>
          </a:p>
          <a:p>
            <a:pPr marL="742950" lvl="1" indent="-285750">
              <a:lnSpc>
                <a:spcPct val="108000"/>
              </a:lnSpc>
              <a:spcBef>
                <a:spcPts val="300"/>
              </a:spcBef>
              <a:buClr>
                <a:srgbClr val="7A7A7A"/>
              </a:buClr>
              <a:buFont typeface="Arial"/>
              <a:buChar char="–"/>
            </a:pPr>
            <a:r>
              <a:rPr lang="en-US" sz="1450" dirty="0">
                <a:solidFill>
                  <a:srgbClr val="404040"/>
                </a:solidFill>
              </a:rPr>
              <a:t>JUnit 5 via spring-boot-starter-test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0" name="Body Content"/>
          <p:cNvSpPr txBox="1"/>
          <p:nvPr/>
        </p:nvSpPr>
        <p:spPr>
          <a:xfrm>
            <a:off x="731520" y="1188720"/>
            <a:ext cx="10728960" cy="4937760"/>
          </a:xfrm>
          <a:prstGeom prst="rect">
            <a:avLst/>
          </a:prstGeom>
        </p:spPr>
        <p:txBody>
          <a:bodyPr wrap="square" anchor="ctr" rtlCol="0">
            <a:normAutofit/>
          </a:bodyPr>
          <a:lstStyle/>
          <a:p>
            <a:pPr marL="285750" indent="-285750">
              <a:lnSpc>
                <a:spcPct val="112000"/>
              </a:lnSpc>
              <a:spcBef>
                <a:spcPts val="900"/>
              </a:spcBef>
              <a:buClr>
                <a:srgbClr val="5B2D90"/>
              </a:buClr>
              <a:buFont typeface="Arial"/>
              <a:buChar char="•"/>
            </a:pPr>
            <a:r>
              <a:rPr lang="en-US" sz="1650" dirty="0">
                <a:solidFill>
                  <a:srgbClr val="333333"/>
                </a:solidFill>
              </a:rPr>
              <a:t>Contract-first OpenAPI 3.0.3 - served at /swagger-ui.html from the static YAML</a:t>
            </a:r>
          </a:p>
          <a:p>
            <a:pPr marL="285750" indent="-285750">
              <a:lnSpc>
                <a:spcPct val="112000"/>
              </a:lnSpc>
              <a:spcBef>
                <a:spcPts val="900"/>
              </a:spcBef>
              <a:buClr>
                <a:srgbClr val="5B2D90"/>
              </a:buClr>
              <a:buFont typeface="Arial"/>
              <a:buChar char="•"/>
            </a:pPr>
            <a:r>
              <a:rPr lang="en-US" sz="1650" dirty="0">
                <a:solidFill>
                  <a:srgbClr val="333333"/>
                </a:solidFill>
              </a:rPr>
              <a:t>Base path: /api/v1/policies</a:t>
            </a:r>
          </a:p>
          <a:p>
            <a:pPr marL="285750" indent="-285750">
              <a:lnSpc>
                <a:spcPct val="112000"/>
              </a:lnSpc>
              <a:spcBef>
                <a:spcPts val="900"/>
              </a:spcBef>
              <a:buClr>
                <a:srgbClr val="5B2D90"/>
              </a:buClr>
              <a:buFont typeface="Arial"/>
              <a:buChar char="•"/>
            </a:pPr>
            <a:r>
              <a:rPr lang="en-US" sz="1650" dirty="0">
                <a:solidFill>
                  <a:srgbClr val="333333"/>
                </a:solidFill>
              </a:rPr>
              <a:t>GET /api/v1/policies - paginated list; filters (status, lineOfBusiness, region, date range) + free-text q; page/size/sort</a:t>
            </a:r>
          </a:p>
          <a:p>
            <a:pPr marL="285750" indent="-285750">
              <a:lnSpc>
                <a:spcPct val="112000"/>
              </a:lnSpc>
              <a:spcBef>
                <a:spcPts val="900"/>
              </a:spcBef>
              <a:buClr>
                <a:srgbClr val="5B2D90"/>
              </a:buClr>
              <a:buFont typeface="Arial"/>
              <a:buChar char="•"/>
            </a:pPr>
            <a:r>
              <a:rPr lang="en-US" sz="1650" dirty="0">
                <a:solidFill>
                  <a:srgbClr val="333333"/>
                </a:solidFill>
              </a:rPr>
              <a:t>GET /api/v1/policies/{id} - full detail of one policy by UUID</a:t>
            </a:r>
          </a:p>
          <a:p>
            <a:pPr marL="285750" indent="-285750">
              <a:lnSpc>
                <a:spcPct val="112000"/>
              </a:lnSpc>
              <a:spcBef>
                <a:spcPts val="900"/>
              </a:spcBef>
              <a:buClr>
                <a:srgbClr val="5B2D90"/>
              </a:buClr>
              <a:buFont typeface="Arial"/>
              <a:buChar char="•"/>
            </a:pPr>
            <a:r>
              <a:rPr lang="en-US" sz="1650" dirty="0">
                <a:solidFill>
                  <a:srgbClr val="333333"/>
                </a:solidFill>
              </a:rPr>
              <a:t>PATCH /api/v1/policies/flag - bulk-flag by id list; returns requested/flagged/missing</a:t>
            </a:r>
          </a:p>
          <a:p>
            <a:pPr marL="285750" indent="-285750">
              <a:lnSpc>
                <a:spcPct val="112000"/>
              </a:lnSpc>
              <a:spcBef>
                <a:spcPts val="900"/>
              </a:spcBef>
              <a:buClr>
                <a:srgbClr val="5B2D90"/>
              </a:buClr>
              <a:buFont typeface="Arial"/>
              <a:buChar char="•"/>
            </a:pPr>
            <a:r>
              <a:rPr lang="en-US" sz="1650" dirty="0">
                <a:solidFill>
                  <a:srgbClr val="333333"/>
                </a:solidFill>
              </a:rPr>
              <a:t>GET /api/v1/policies/summary - counts by status, premium by line of business, expiring-soon count</a:t>
            </a:r>
          </a:p>
          <a:p>
            <a:pPr marL="285750" indent="-285750">
              <a:lnSpc>
                <a:spcPct val="112000"/>
              </a:lnSpc>
              <a:spcBef>
                <a:spcPts val="900"/>
              </a:spcBef>
              <a:buClr>
                <a:srgbClr val="5B2D90"/>
              </a:buClr>
              <a:buFont typeface="Arial"/>
              <a:buChar char="•"/>
            </a:pPr>
            <a:r>
              <a:rPr lang="en-US" sz="1650" dirty="0">
                <a:solidFill>
                  <a:srgbClr val="333333"/>
                </a:solidFill>
              </a:rPr>
              <a:t>Frontend shaping: display values (Active, Singapore), isExpiringSoon, totalElements/totalPages, {amount, currency}</a:t>
            </a:r>
          </a:p>
          <a:p>
            <a:pPr marL="285750" indent="-285750">
              <a:lnSpc>
                <a:spcPct val="112000"/>
              </a:lnSpc>
              <a:spcBef>
                <a:spcPts val="900"/>
              </a:spcBef>
              <a:buClr>
                <a:srgbClr val="5B2D90"/>
              </a:buClr>
              <a:buFont typeface="Arial"/>
              <a:buChar char="•"/>
            </a:pPr>
            <a:r>
              <a:rPr lang="en-US" sz="1650" dirty="0">
                <a:solidFill>
                  <a:srgbClr val="333333"/>
                </a:solidFill>
              </a:rPr>
              <a:t>Errors: standard ErrorResponse; 400 / 404 / 503; never exposes stack traces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0" name="Body Content"/>
          <p:cNvSpPr txBox="1"/>
          <p:nvPr/>
        </p:nvSpPr>
        <p:spPr>
          <a:xfrm>
            <a:off x="731520" y="1188720"/>
            <a:ext cx="10728960" cy="4937760"/>
          </a:xfrm>
          <a:prstGeom prst="rect">
            <a:avLst/>
          </a:prstGeom>
        </p:spPr>
        <p:txBody>
          <a:bodyPr wrap="square" anchor="ctr" rtlCol="0">
            <a:normAutofit/>
          </a:bodyPr>
          <a:lstStyle/>
          <a:p>
            <a:pPr marL="285750" indent="-285750">
              <a:lnSpc>
                <a:spcPct val="112000"/>
              </a:lnSpc>
              <a:spcBef>
                <a:spcPts val="900"/>
              </a:spcBef>
              <a:buClr>
                <a:srgbClr val="5B2D90"/>
              </a:buClr>
              <a:buFont typeface="Arial"/>
              <a:buChar char="•"/>
            </a:pPr>
            <a:r>
              <a:rPr lang="en-US" sz="1650" dirty="0">
                <a:solidFill>
                  <a:srgbClr val="333333"/>
                </a:solidFill>
              </a:rPr>
              <a:t>26 tests, all green - layered to mirror the architecture</a:t>
            </a:r>
          </a:p>
          <a:p>
            <a:pPr marL="285750" indent="-285750">
              <a:lnSpc>
                <a:spcPct val="112000"/>
              </a:lnSpc>
              <a:spcBef>
                <a:spcPts val="900"/>
              </a:spcBef>
              <a:buClr>
                <a:srgbClr val="5B2D90"/>
              </a:buClr>
              <a:buFont typeface="Arial"/>
              <a:buChar char="•"/>
            </a:pPr>
            <a:r>
              <a:rPr lang="en-US" sz="1650" dirty="0">
                <a:solidFill>
                  <a:srgbClr val="333333"/>
                </a:solidFill>
              </a:rPr>
              <a:t>PolicyServiceTest (5) - unit (Mockito): business logic &amp; 404 path</a:t>
            </a:r>
          </a:p>
          <a:p>
            <a:pPr marL="285750" indent="-285750">
              <a:lnSpc>
                <a:spcPct val="112000"/>
              </a:lnSpc>
              <a:spcBef>
                <a:spcPts val="900"/>
              </a:spcBef>
              <a:buClr>
                <a:srgbClr val="5B2D90"/>
              </a:buClr>
              <a:buFont typeface="Arial"/>
              <a:buChar char="•"/>
            </a:pPr>
            <a:r>
              <a:rPr lang="en-US" sz="1650" dirty="0">
                <a:solidFill>
                  <a:srgbClr val="333333"/>
                </a:solidFill>
              </a:rPr>
              <a:t>PolicyControllerTest (8) - web slice (@WebMvcTest + MockMvc): endpoints, validation, JSON shape</a:t>
            </a:r>
          </a:p>
          <a:p>
            <a:pPr marL="285750" indent="-285750">
              <a:lnSpc>
                <a:spcPct val="112000"/>
              </a:lnSpc>
              <a:spcBef>
                <a:spcPts val="900"/>
              </a:spcBef>
              <a:buClr>
                <a:srgbClr val="5B2D90"/>
              </a:buClr>
              <a:buFont typeface="Arial"/>
              <a:buChar char="•"/>
            </a:pPr>
            <a:r>
              <a:rPr lang="en-US" sz="1650" dirty="0">
                <a:solidFill>
                  <a:srgbClr val="333333"/>
                </a:solidFill>
              </a:rPr>
              <a:t>CorrelationIdFilterTest (3) - unit: ID generation, inbound-header reuse, MDC cleanup</a:t>
            </a:r>
          </a:p>
          <a:p>
            <a:pPr marL="285750" indent="-285750">
              <a:lnSpc>
                <a:spcPct val="112000"/>
              </a:lnSpc>
              <a:spcBef>
                <a:spcPts val="900"/>
              </a:spcBef>
              <a:buClr>
                <a:srgbClr val="5B2D90"/>
              </a:buClr>
              <a:buFont typeface="Arial"/>
              <a:buChar char="•"/>
            </a:pPr>
            <a:r>
              <a:rPr lang="en-US" sz="1650" dirty="0">
                <a:solidFill>
                  <a:srgbClr val="333333"/>
                </a:solidFill>
              </a:rPr>
              <a:t>PolicySpecificationFactoryTest (4) - unit: filter predicate construction</a:t>
            </a:r>
          </a:p>
          <a:p>
            <a:pPr marL="285750" indent="-285750">
              <a:lnSpc>
                <a:spcPct val="112000"/>
              </a:lnSpc>
              <a:spcBef>
                <a:spcPts val="900"/>
              </a:spcBef>
              <a:buClr>
                <a:srgbClr val="5B2D90"/>
              </a:buClr>
              <a:buFont typeface="Arial"/>
              <a:buChar char="•"/>
            </a:pPr>
            <a:r>
              <a:rPr lang="en-US" sz="1650" dirty="0">
                <a:solidFill>
                  <a:srgbClr val="333333"/>
                </a:solidFill>
              </a:rPr>
              <a:t>PolicyRepositoryIntegrationTest (6) - integration (@DataJpaTest + H2): filtering, search, aggregation, expiry</a:t>
            </a:r>
          </a:p>
          <a:p>
            <a:pPr marL="285750" indent="-285750">
              <a:lnSpc>
                <a:spcPct val="112000"/>
              </a:lnSpc>
              <a:spcBef>
                <a:spcPts val="900"/>
              </a:spcBef>
              <a:buClr>
                <a:srgbClr val="5B2D90"/>
              </a:buClr>
              <a:buFont typeface="Arial"/>
              <a:buChar char="•"/>
            </a:pPr>
            <a:r>
              <a:rPr lang="en-US" sz="1650" dirty="0">
                <a:solidFill>
                  <a:srgbClr val="333333"/>
                </a:solidFill>
              </a:rPr>
              <a:t>Principles: unit for service &amp; controller; integration incl. DB; naming method_scenario_outcome; error paths (400/404/503) covered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Arial</vt:lpstr>
      <vt:lpstr>SimSun</vt:lpstr>
      <vt:lpstr>Wingdings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mayan</dc:creator>
  <cp:lastModifiedBy>Mayank Gupta</cp:lastModifiedBy>
  <cp:revision>1</cp:revision>
  <dcterms:created xsi:type="dcterms:W3CDTF">2026-06-10T04:23:51Z</dcterms:created>
  <dcterms:modified xsi:type="dcterms:W3CDTF">2026-06-10T04:23:52Z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17EBD7D3D7744165AAF4B139DC7AA02F_11</vt:lpwstr>
  </property>
</Properties>
</file>